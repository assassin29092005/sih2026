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32eacec889b4d81" Type="http://schemas.openxmlformats.org/officeDocument/2006/relationships/officeDocument" Target="ppt/presentation.xml"/><Relationship Id="R5a8707ca7e3e4290" Type="http://schemas.openxmlformats.org/officeDocument/2006/relationships/extended-properties" Target="docProps/app.xml"/><Relationship Id="Rf613748284ab4318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41ca8772674d05"/>
  </p:sldMasterIdLst>
  <p:notesMasterIdLst>
    <p:notesMasterId xmlns:r="http://schemas.openxmlformats.org/officeDocument/2006/relationships" r:id="Rf874b654fda44f27"/>
  </p:notesMasterIdLst>
  <p:sldIdLst>
    <p:sldId xmlns:r="http://schemas.openxmlformats.org/officeDocument/2006/relationships" id="256" r:id="Rd8de5b3ba5ee415a"/>
    <p:sldId xmlns:r="http://schemas.openxmlformats.org/officeDocument/2006/relationships" id="257" r:id="Rc3eca3b8859246bb"/>
    <p:sldId xmlns:r="http://schemas.openxmlformats.org/officeDocument/2006/relationships" id="258" r:id="R7fab3e050c2a4c14"/>
    <p:sldId xmlns:r="http://schemas.openxmlformats.org/officeDocument/2006/relationships" id="259" r:id="R3f0325f1a41e498b"/>
    <p:sldId xmlns:r="http://schemas.openxmlformats.org/officeDocument/2006/relationships" id="260" r:id="Rbf6f9e0331234ff4"/>
    <p:sldId xmlns:r="http://schemas.openxmlformats.org/officeDocument/2006/relationships" id="261" r:id="R6b70ac7c086548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2141ca8772674d05" Type="http://schemas.openxmlformats.org/officeDocument/2006/relationships/slideMaster" Target="slideMasters/slideMaster1.xml"/><Relationship Id="R36ef3c03930b446a" Type="http://schemas.openxmlformats.org/officeDocument/2006/relationships/theme" Target="theme/theme1.xml"/><Relationship Id="R3f0325f1a41e498b" Type="http://schemas.openxmlformats.org/officeDocument/2006/relationships/slide" Target="slides/slide4.xml"/><Relationship Id="R69077827811249b2" Type="http://schemas.openxmlformats.org/officeDocument/2006/relationships/presProps" Target="presProps.xml"/><Relationship Id="R6b70ac7c086548f7" Type="http://schemas.openxmlformats.org/officeDocument/2006/relationships/slide" Target="slides/slide6.xml"/><Relationship Id="R75cffb3137174a51" Type="http://schemas.openxmlformats.org/officeDocument/2006/relationships/viewProps" Target="viewProps.xml"/><Relationship Id="R7fab3e050c2a4c14" Type="http://schemas.openxmlformats.org/officeDocument/2006/relationships/slide" Target="slides/slide3.xml"/><Relationship Id="Rb3113ddd8bac4748" Type="http://schemas.openxmlformats.org/officeDocument/2006/relationships/tableStyles" Target="tableStyles.xml"/><Relationship Id="Rbf6f9e0331234ff4" Type="http://schemas.openxmlformats.org/officeDocument/2006/relationships/slide" Target="slides/slide5.xml"/><Relationship Id="Rc3eca3b8859246bb" Type="http://schemas.openxmlformats.org/officeDocument/2006/relationships/slide" Target="slides/slide2.xml"/><Relationship Id="Rd8de5b3ba5ee415a" Type="http://schemas.openxmlformats.org/officeDocument/2006/relationships/slide" Target="slides/slide1.xml"/><Relationship Id="Rf874b654fda44f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ce976713fccb4fe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036cb247f6a4cfd" Type="http://schemas.openxmlformats.org/officeDocument/2006/relationships/slide" Target="../slides/slide1.xml"/><Relationship Id="Rfed812343fb242cb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10fa8258e9bb4c10" Type="http://schemas.openxmlformats.org/officeDocument/2006/relationships/slide" Target="../slides/slide2.xml"/><Relationship Id="R30ba91650d6b4dc6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21eb90f878944219" Type="http://schemas.openxmlformats.org/officeDocument/2006/relationships/slide" Target="../slides/slide3.xml"/><Relationship Id="Rda3fbc08b5f64818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12e5e56c5944964" Type="http://schemas.openxmlformats.org/officeDocument/2006/relationships/slide" Target="../slides/slide4.xml"/><Relationship Id="Re51d6ab3821d4ffc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8838dcc2d304f28" Type="http://schemas.openxmlformats.org/officeDocument/2006/relationships/notesMaster" Target="../notesMasters/notesMaster1.xml"/><Relationship Id="R9dd00d6dea94428a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355601152dff408f" Type="http://schemas.openxmlformats.org/officeDocument/2006/relationships/slide" Target="../slides/slide6.xml"/><Relationship Id="Rc95e9f6a93344810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SANDHI Technical Report (11 Sep 2026); repository README.md, ROADMAP.md, CLAUDE.md and BUGS.md. Metrics are reported with their data pair and pixel unit.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SANDHI Technical Report (11 Sep 2026); repository README.md, ROADMAP.md, CLAUDE.md and BUGS.md. Metrics are reported with their data pair and pixel unit.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SANDHI Technical Report (11 Sep 2026); repository README.md, ROADMAP.md, CLAUDE.md and BUGS.md. Metrics are reported with their data pair and pixel unit.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SANDHI Technical Report (11 Sep 2026); repository README.md, ROADMAP.md, CLAUDE.md and BUGS.md. Metrics are reported with their data pair and pixel unit.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SANDHI Technical Report (11 Sep 2026); repository README.md, ROADMAP.md, CLAUDE.md and BUGS.md. Metrics are reported with their data pair and pixel unit.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SANDHI Technical Report (11 Sep 2026); repository README.md, ROADMAP.md, CLAUDE.md and BUGS.md. Metrics are reported with their data pair and pixel unit.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6f72fa271df54d98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b15b92157bf0425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fac8a7ec3b0e475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eef6b9bebec54a97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236f587d7c1c4d1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5b6be01a8ae4479b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5246b979d0b343d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4f1aeeb68daa4203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69a9915ba31c4ac3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826a4675c9624b18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89c846e221a540f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2DC91F-A149-41C5-97D2-09D39AD966B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F10595A-E04E-402E-83BA-721004DBCB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6BEED08-AEC8-4510-A9BE-0B9F917E7F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9/13/2026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B6AA16-3C7A-415D-A323-74B156B70D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241578-4E74-43E5-B7BD-210112C12B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BA10CE-8EC1-40D0-B387-1459213379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5226B27-5B6D-4623-B402-27D9FF482A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85B1641-C927-429B-AB7C-95469BA638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9/13/2026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7EC482-A79A-451D-BF41-AD3CE28E83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BD8039-8AF2-40F4-AF5B-CA70776C64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7B97B4-8253-455F-B24E-7E42CD04E0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2208407-7F25-4C17-ADC3-B1BC022491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7D67214-BB52-4B61-9F07-B758B68C74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9/13/2026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C2B717-FC81-460D-A239-E8F448F93C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391676-983A-4364-9B75-B939072C7E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9557F3-B8F4-455C-A95E-44122D58DF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E60C80B-9034-4408-8A28-D2CF7A6AAFE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CEA6059-8CF8-4B96-AD50-7200A7C5731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7FDE1E-A484-4336-94A4-9DF20A3B57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9/13/2026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FAFB15-B078-46AC-93C2-4B05643A31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250DC1-9DD9-4056-8EAA-B1B65DC1D4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8812C52-38B7-4017-A2AC-3307B6AE2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774AF05-4DCC-49AB-B3D0-DBE6BB1F21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DB7E7BE-D838-4843-82CB-AB1AA78F3DA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9718237-31D3-4A35-839A-B573CF9536B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6E054DA-5568-4E1E-A08A-CAF281D6B90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4B350AF-A3F4-44D5-9C8F-B717211087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9/13/2026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15B201-F196-4C3D-B607-8E6E0E6F9A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98A4A6-E3EB-4A68-A1BC-D664FFFDBA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17E85C-1DED-4875-AD4D-7640942257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B7B3D5E-D58F-4635-A552-834361EC43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9/13/2026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D15CC27-D32A-41D2-9DC0-F15E5F8A25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231C3C4-95D2-4B9C-AFFB-ED00E21E05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89CA83F-7538-494C-A016-0DDBFBDD50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9/13/2026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577A19-EA38-44D1-8A36-D7BF12B2A5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1A5C658-E4B6-4A29-9D54-4677306E43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6F1A30-0D47-494F-85A2-8421E0C770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E18E67-FE89-46B3-AA9C-3E1EFE0656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BBBFE64-E993-4735-9C4B-28BEF7680F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21E5A6-5A8B-41B1-A7AC-BA38009F44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9/13/2026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B8219D-191D-4A3E-A32F-74B0C91F9C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361A96-9239-42E2-9006-6D601593B6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500F61-595C-4828-B003-7CEFD27AD9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875BBB3-8FF2-437B-AFE1-99709EA9554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905955A-51FA-44BA-BD19-12593B8B13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B16EDF-52C7-4C6C-B67A-6D7E8D6A90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9/13/2026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F39EDD-C9A0-4022-A914-36DE21EDD4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0AA7E24-609C-442C-B2CF-37950BE6F0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921A39-4C12-4D37-8CB1-2E42CB4C64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E2F0E1-12FF-4C3A-B08F-B2F2B49D17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33179D-8ED9-4BCE-B699-0E523B6AD8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9/13/2026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090FE8-5FB7-4281-947E-2E0C10AE30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1ACA3-533E-4CC1-AAF9-90A3E3A006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071CD71-8F5D-482D-8B60-A03FFFB411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F492B1D-1A9A-4DE8-89E6-869C80099D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3A5C5F1-7884-44D9-AD83-A0B1029C1E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9/13/2026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3DEEDEF-A77B-4241-9F34-42A422247B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78AF8B-4E02-4FFC-8CD1-B41046077C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67f8bcd905e45ed" Type="http://schemas.openxmlformats.org/officeDocument/2006/relationships/slideLayout" Target="../slideLayouts/slideLayout1.xml"/><Relationship Id="R1af47af1f4ba4a41" Type="http://schemas.openxmlformats.org/officeDocument/2006/relationships/slideLayout" Target="../slideLayouts/slideLayout8.xml"/><Relationship Id="R1e048c5742bd480b" Type="http://schemas.openxmlformats.org/officeDocument/2006/relationships/theme" Target="theme/theme2.xml"/><Relationship Id="R1f3e454379324753" Type="http://schemas.openxmlformats.org/officeDocument/2006/relationships/slideLayout" Target="../slideLayouts/slideLayout11.xml"/><Relationship Id="R5dcacceb639d43c2" Type="http://schemas.openxmlformats.org/officeDocument/2006/relationships/slideLayout" Target="../slideLayouts/slideLayout2.xml"/><Relationship Id="R65335995493d4649" Type="http://schemas.openxmlformats.org/officeDocument/2006/relationships/slideLayout" Target="../slideLayouts/slideLayout4.xml"/><Relationship Id="R6557f555659d415a" Type="http://schemas.openxmlformats.org/officeDocument/2006/relationships/slideLayout" Target="../slideLayouts/slideLayout7.xml"/><Relationship Id="R86e44a99b2734f68" Type="http://schemas.openxmlformats.org/officeDocument/2006/relationships/slideLayout" Target="../slideLayouts/slideLayout3.xml"/><Relationship Id="R95edc9aecbf944f3" Type="http://schemas.openxmlformats.org/officeDocument/2006/relationships/slideLayout" Target="../slideLayouts/slideLayout10.xml"/><Relationship Id="Rae80344c4f064895" Type="http://schemas.openxmlformats.org/officeDocument/2006/relationships/slideLayout" Target="../slideLayouts/slideLayout6.xml"/><Relationship Id="Rd63e1360e2ef4488" Type="http://schemas.openxmlformats.org/officeDocument/2006/relationships/slideLayout" Target="../slideLayouts/slideLayout9.xml"/><Relationship Id="Rdede0ba6fd9f4818" Type="http://schemas.openxmlformats.org/officeDocument/2006/relationships/slideLayout" Target="../slideLayouts/slideLayout5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FDA3A38-24B2-4191-99FA-0D56F0C784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650371F-D25D-4E2B-9BAF-1D79B068AE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01CF65-5C13-4DC4-A557-852F86F2092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9/13/2026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FB6B35-A492-49D0-B0AF-715A709500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06AFD04-275E-42CE-986D-077884AFED3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7f8bcd905e45ed"/>
    <p:sldLayoutId xmlns:r="http://schemas.openxmlformats.org/officeDocument/2006/relationships" id="2147483650" r:id="R5dcacceb639d43c2"/>
    <p:sldLayoutId xmlns:r="http://schemas.openxmlformats.org/officeDocument/2006/relationships" id="2147483651" r:id="R86e44a99b2734f68"/>
    <p:sldLayoutId xmlns:r="http://schemas.openxmlformats.org/officeDocument/2006/relationships" id="2147483652" r:id="R65335995493d4649"/>
    <p:sldLayoutId xmlns:r="http://schemas.openxmlformats.org/officeDocument/2006/relationships" id="2147483653" r:id="Rdede0ba6fd9f4818"/>
    <p:sldLayoutId xmlns:r="http://schemas.openxmlformats.org/officeDocument/2006/relationships" id="2147483654" r:id="Rae80344c4f064895"/>
    <p:sldLayoutId xmlns:r="http://schemas.openxmlformats.org/officeDocument/2006/relationships" id="2147483655" r:id="R6557f555659d415a"/>
    <p:sldLayoutId xmlns:r="http://schemas.openxmlformats.org/officeDocument/2006/relationships" id="2147483656" r:id="R1af47af1f4ba4a41"/>
    <p:sldLayoutId xmlns:r="http://schemas.openxmlformats.org/officeDocument/2006/relationships" id="2147483657" r:id="Rd63e1360e2ef4488"/>
    <p:sldLayoutId xmlns:r="http://schemas.openxmlformats.org/officeDocument/2006/relationships" id="2147483658" r:id="R95edc9aecbf944f3"/>
    <p:sldLayoutId xmlns:r="http://schemas.openxmlformats.org/officeDocument/2006/relationships" id="2147483659" r:id="R1f3e454379324753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fc180ccbb414b7b" Type="http://schemas.openxmlformats.org/officeDocument/2006/relationships/slideLayout" Target="../slideLayouts/slideLayout1.xml"/><Relationship Id="R8ad03bc657e44fcf" Type="http://schemas.openxmlformats.org/officeDocument/2006/relationships/image" Target="../media/image.png"/><Relationship Id="Rc9af8da912654f2c" Type="http://schemas.openxmlformats.org/officeDocument/2006/relationships/image" Target="../media/image2.png"/><Relationship Id="Re8d8d88c60b84c8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39ccae59b9d4f9e" Type="http://schemas.openxmlformats.org/officeDocument/2006/relationships/slideLayout" Target="../slideLayouts/slideLayout2.xml"/><Relationship Id="Rdeb37018ed034067" Type="http://schemas.openxmlformats.org/officeDocument/2006/relationships/notesSlide" Target="../notesSlides/notesSlide2.xml"/><Relationship Id="Rec317b40a3d6436a" Type="http://schemas.openxmlformats.org/officeDocument/2006/relationships/image" Target="../media/image2.png"/><Relationship Id="Rf157aaf9e89a40ab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0ab3c0490f054119" Type="http://schemas.openxmlformats.org/officeDocument/2006/relationships/slideLayout" Target="../slideLayouts/slideLayout2.xml"/><Relationship Id="R9eb01ff5836a49c4" Type="http://schemas.openxmlformats.org/officeDocument/2006/relationships/image" Target="../media/image2.png"/><Relationship Id="Rf2c39d0900af490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8bcb61a84c14d6b" Type="http://schemas.openxmlformats.org/officeDocument/2006/relationships/slideLayout" Target="../slideLayouts/slideLayout2.xml"/><Relationship Id="R440b1022e7f34efc" Type="http://schemas.openxmlformats.org/officeDocument/2006/relationships/notesSlide" Target="../notesSlides/notesSlide4.xml"/><Relationship Id="Rb3fd645812764b6f" Type="http://schemas.openxmlformats.org/officeDocument/2006/relationships/image" Target="../media/image2.png"/><Relationship Id="Rd12d8a3c7a00451b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06ad044484724b99" Type="http://schemas.openxmlformats.org/officeDocument/2006/relationships/image" Target="../media/image5.png"/><Relationship Id="R233c0087c5424649" Type="http://schemas.openxmlformats.org/officeDocument/2006/relationships/image" Target="../media/image2.png"/><Relationship Id="R307c2bd890214ecb" Type="http://schemas.openxmlformats.org/officeDocument/2006/relationships/notesSlide" Target="../notesSlides/notesSlide5.xml"/><Relationship Id="R4656a01e7fb647bf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244c926cf9224856" Type="http://schemas.openxmlformats.org/officeDocument/2006/relationships/slideLayout" Target="../slideLayouts/slideLayout2.xml"/><Relationship Id="Rb739d232164d4dda" Type="http://schemas.openxmlformats.org/officeDocument/2006/relationships/image" Target="../media/image2.png"/><Relationship Id="Rbc543ea3673c47bc" Type="http://schemas.openxmlformats.org/officeDocument/2006/relationships/notesSlide" Target="../notesSlides/notesSlide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820FB80-3BBD-4D07-B8D1-83EA910C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83B7A9B1-F81B-4705-8F16-04C6A012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ad03bc657e44fcf"/>
          <a:srcRect xmlns:a="http://schemas.openxmlformats.org/drawingml/2006/main" l="0" t="0" r="599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1D25A68C-0538-4D58-80C7-AB8F1BC6071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AD31AF3-37D8-494C-95F8-D40E742D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3" y="1257053"/>
            <a:ext cx="6641887" cy="48782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1">
                <a:latin typeface="Arial"/>
                <a:ea typeface="Arial"/>
                <a:cs typeface="Arial"/>
              </a:rPr>
              <a:t>Problem Statement ID - 26166</a:t>
            </a:r>
            <a:endParaRPr sz="2000" b="1"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1">
                <a:latin typeface="Arial"/>
                <a:ea typeface="Arial"/>
                <a:cs typeface="Arial"/>
              </a:rPr>
              <a:t>Problem Statement Title - Multi-modal, sun-angle and scale-invariant image correspondence using Chandrayaan-2 optical images (OHRC, TMC and IIRS)</a:t>
            </a:r>
          </a:p>
          <a:p xmlns:a="http://schemas.openxmlformats.org/drawingml/2006/main"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1">
                <a:latin typeface="Arial"/>
                <a:ea typeface="Arial"/>
                <a:cs typeface="Arial"/>
              </a:rPr>
              <a:t>Theme - Space Technology</a:t>
            </a:r>
          </a:p>
          <a:p xmlns:a="http://schemas.openxmlformats.org/drawingml/2006/main"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1">
                <a:latin typeface="Arial"/>
                <a:ea typeface="Arial"/>
                <a:cs typeface="Arial"/>
              </a:rPr>
              <a:t>PS Category - Software</a:t>
            </a:r>
          </a:p>
          <a:p xmlns:a="http://schemas.openxmlformats.org/drawingml/2006/main"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1">
                <a:latin typeface="Arial"/>
                <a:ea typeface="Arial"/>
                <a:cs typeface="Arial"/>
              </a:rPr>
              <a:t>Team ID - BMS/SIH2026/11</a:t>
            </a:r>
            <a:endParaRPr sz="2000" b="1"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000" b="1">
                <a:latin typeface="Arial"/>
                <a:ea typeface="Arial"/>
                <a:cs typeface="Arial"/>
              </a:rPr>
              <a:t>Team Name - SANDHI</a:t>
            </a:r>
          </a:p>
        </p:txBody>
      </p:sp>
      <p:pic>
        <p:nvPicPr>
          <p:cNvPr id="4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f8da912654f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5671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27CF2F9-BA36-48C3-9EAD-F3DB8013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2B996BA8-2E1B-4126-8536-76A9525F4D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20240" y="201168"/>
            <a:ext cx="7680960" cy="914400"/>
          </a:xfrm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1E2761"/>
                </a:solidFill>
                <a:latin typeface="Times New Roman"/>
                <a:ea typeface="Times New Roman"/>
                <a:cs typeface="Times New Roman"/>
              </a:rPr>
              <a:t>SANDHI</a:t>
            </a:r>
            <a:endParaRPr sz="36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2C3A7B"/>
                </a:solidFill>
                <a:latin typeface="Times New Roman"/>
                <a:ea typeface="Times New Roman"/>
                <a:cs typeface="Times New Roman"/>
              </a:rPr>
              <a:t>Sun-Angle and Scale-invariant Detection of Homologous Imagery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8CB052-DA57-41AC-A90A-6F4098C797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pic>
        <p:nvPicPr>
          <p:cNvPr id="15383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17b40a3d643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5362" name="TextBox 15361">
            <a:extLst xmlns:a="http://schemas.openxmlformats.org/drawingml/2006/main">
              <a:ext uri="{FF2B5EF4-FFF2-40B4-BE49-F238E27FC236}">
                <a16:creationId xmlns:a16="http://schemas.microsoft.com/office/drawing/2014/main" id="{55714137-D361-424A-BF6F-94FB9DE2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280160"/>
            <a:ext cx="6675120" cy="7525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E2761"/>
                </a:solidFill>
                <a:latin typeface="+mn-lt"/>
                <a:ea typeface="+mn-lt"/>
                <a:cs typeface="+mn-lt"/>
              </a:rPr>
              <a:t>Proposed solution</a:t>
            </a:r>
            <a:endParaRPr sz="1600" b="1">
              <a:solidFill>
                <a:srgbClr val="1E276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algn="l">
              <a:spcBef>
                <a:spcPts val="300"/>
              </a:spcBef>
              <a:buNone/>
            </a:pPr>
            <a:r>
              <a:rPr sz="1400" b="0">
                <a:solidFill>
                  <a:srgbClr val="20242C"/>
                </a:solidFill>
                <a:latin typeface="+mn-lt"/>
                <a:ea typeface="+mn-lt"/>
                <a:cs typeface="+mn-lt"/>
              </a:rPr>
              <a:t>SANDHI registers Chandrayaan-2 imagery to a lunar reference frame and returns a registered image, match-point CSV and metrics JSON.</a:t>
            </a:r>
          </a:p>
        </p:txBody>
      </p:sp>
      <p:sp>
        <p:nvSpPr>
          <p:cNvPr id="15363" name="TextBox 15362">
            <a:extLst xmlns:a="http://schemas.openxmlformats.org/drawingml/2006/main">
              <a:ext uri="{FF2B5EF4-FFF2-40B4-BE49-F238E27FC236}">
                <a16:creationId xmlns:a16="http://schemas.microsoft.com/office/drawing/2014/main" id="{6E6A9481-435D-4D09-86C8-E1613518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8614"/>
            <a:ext cx="6452980" cy="11218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C1440E"/>
                </a:solidFill>
                <a:latin typeface="+mn-lt"/>
                <a:ea typeface="+mn-lt"/>
                <a:cs typeface="+mn-lt"/>
              </a:rPr>
              <a:t>How it addresses the problem</a:t>
            </a:r>
          </a:p>
          <a:p xmlns:a="http://schemas.openxmlformats.org/drawingml/2006/main">
            <a:pPr algn="l">
              <a:spcBef>
                <a:spcPts val="500"/>
              </a:spcBef>
              <a:buNone/>
            </a:pPr>
            <a:r>
              <a:rPr sz="1400" b="1">
                <a:solidFill>
                  <a:srgbClr val="C1440E"/>
                </a:solidFill>
                <a:latin typeface="+mn-lt"/>
                <a:ea typeface="+mn-lt"/>
                <a:cs typeface="+mn-lt"/>
              </a:rPr>
              <a:t>- Illumination: local contrast normalisation withstands crater/dome shading inversion</a:t>
            </a:r>
          </a:p>
          <a:p xmlns:a="http://schemas.openxmlformats.org/drawingml/2006/main">
            <a:pPr algn="l">
              <a:spcBef>
                <a:spcPts val="500"/>
              </a:spcBef>
              <a:buNone/>
            </a:pPr>
            <a:r>
              <a:rPr sz="1400" b="1">
                <a:solidFill>
                  <a:srgbClr val="C1440E"/>
                </a:solidFill>
                <a:latin typeface="+mn-lt"/>
                <a:ea typeface="+mn-lt"/>
                <a:cs typeface="+mn-lt"/>
              </a:rPr>
              <a:t>- Scale: metadata-driven common-GSD resampling, demonstrated to {m3_ratio}x</a:t>
            </a:r>
          </a:p>
          <a:p xmlns:a="http://schemas.openxmlformats.org/drawingml/2006/main">
            <a:pPr algn="l">
              <a:spcBef>
                <a:spcPts val="500"/>
              </a:spcBef>
              <a:buNone/>
            </a:pPr>
            <a:r>
              <a:rPr sz="1400" b="1">
                <a:solidFill>
                  <a:srgbClr val="C1440E"/>
                </a:solidFill>
                <a:latin typeface="+mn-lt"/>
                <a:ea typeface="+mn-lt"/>
                <a:cs typeface="+mn-lt"/>
              </a:rPr>
              <a:t>- Viewpoint: held-out residual selects similarity, affine or homography</a:t>
            </a:r>
          </a:p>
        </p:txBody>
      </p:sp>
      <p:sp>
        <p:nvSpPr>
          <p:cNvPr id="15364" name="TextBox 15363">
            <a:extLst xmlns:a="http://schemas.openxmlformats.org/drawingml/2006/main">
              <a:ext uri="{FF2B5EF4-FFF2-40B4-BE49-F238E27FC236}">
                <a16:creationId xmlns:a16="http://schemas.microsoft.com/office/drawing/2014/main" id="{A656AED8-40FC-4866-A219-51B134CE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41" y="3723821"/>
            <a:ext cx="5711952" cy="1983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C1440E"/>
                </a:solidFill>
                <a:latin typeface="+mn-lt"/>
                <a:ea typeface="+mn-lt"/>
                <a:cs typeface="+mn-lt"/>
              </a:rPr>
              <a:t>Evidence-led innovation</a:t>
            </a:r>
          </a:p>
          <a:p xmlns:a="http://schemas.openxmlformats.org/drawingml/2006/main">
            <a:pPr algn="l">
              <a:spcBef>
                <a:spcPts val="500"/>
              </a:spcBef>
              <a:buNone/>
            </a:pPr>
            <a:r>
              <a:rPr sz="1400" b="1">
                <a:solidFill>
                  <a:srgbClr val="C1440E"/>
                </a:solidFill>
                <a:latin typeface="+mn-lt"/>
                <a:ea typeface="+mn-lt"/>
                <a:cs typeface="+mn-lt"/>
              </a:rPr>
              <a:t>- Four controls: real pair, raw-input roll, pure noise and flat grey</a:t>
            </a:r>
          </a:p>
          <a:p xmlns:a="http://schemas.openxmlformats.org/drawingml/2006/main">
            <a:pPr>
              <a:spcBef>
                <a:spcPts val="500"/>
              </a:spcBef>
              <a:buNone/>
            </a:pPr>
            <a:r>
              <a:rPr sz="1400" b="1">
                <a:solidFill>
                  <a:srgbClr val="C1440E"/>
                </a:solidFill>
                <a:latin typeface="+mn-lt"/>
                <a:ea typeface="+mn-lt"/>
                <a:cs typeface="+mn-lt"/>
              </a:rPr>
              <a:t>- Cross-illumination: SANDHI is the only tested baseline that passes the gate</a:t>
            </a:r>
            <a:endParaRPr sz="1400">
              <a:solidFill>
                <a:srgbClr val="20242C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algn="l">
              <a:spcBef>
                <a:spcPts val="500"/>
              </a:spcBef>
              <a:buNone/>
            </a:pPr>
            <a:r>
              <a:rPr sz="1400" b="1">
                <a:solidFill>
                  <a:srgbClr val="C1440E"/>
                </a:solidFill>
                <a:latin typeface="+mn-lt"/>
                <a:ea typeface="+mn-lt"/>
                <a:cs typeface="+mn-lt"/>
              </a:rPr>
              <a:t>- TMC-2 to Kaguya, full product: {tmc_source_px} source px, {tmc_coverage} coverage, {tmc_entropy} entropy</a:t>
            </a:r>
          </a:p>
        </p:txBody>
      </p:sp>
      <p:sp>
        <p:nvSpPr>
          <p:cNvPr id="15368" name="TextBox 15367">
            <a:extLst xmlns:a="http://schemas.openxmlformats.org/drawingml/2006/main">
              <a:ext uri="{FF2B5EF4-FFF2-40B4-BE49-F238E27FC236}">
                <a16:creationId xmlns:a16="http://schemas.microsoft.com/office/drawing/2014/main" id="{E04796DC-43A5-4571-8160-899465E8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069080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C1440E"/>
                </a:solidFill>
                <a:latin typeface="Arial"/>
                <a:ea typeface="Arial"/>
                <a:cs typeface="Arial"/>
              </a:rPr>
              <a:t>The core difficulty</a:t>
            </a:r>
          </a:p>
        </p:txBody>
      </p:sp>
      <p:sp>
        <p:nvSpPr>
          <p:cNvPr id="15369" name="TextBox 15368">
            <a:extLst xmlns:a="http://schemas.openxmlformats.org/drawingml/2006/main">
              <a:ext uri="{FF2B5EF4-FFF2-40B4-BE49-F238E27FC236}">
                <a16:creationId xmlns:a16="http://schemas.microsoft.com/office/drawing/2014/main" id="{A4F0E699-D29B-4A1F-84C8-ABDBDE49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325112"/>
            <a:ext cx="4251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20242C"/>
                </a:solidFill>
                <a:latin typeface="Arial"/>
                <a:ea typeface="Arial"/>
                <a:cs typeface="Arial"/>
              </a:rPr>
              <a:t>Same lunar ground under morning and evening lighting. With no atmospheric fill light, a crater lit from the east can resemble a dome lit from the west.</a:t>
            </a:r>
          </a:p>
        </p:txBody>
      </p:sp>
      <p:sp>
        <p:nvSpPr>
          <p:cNvPr id="15370" name="Rounded Rectangle 15369">
            <a:extLst xmlns:a="http://schemas.openxmlformats.org/drawingml/2006/main">
              <a:ext uri="{FF2B5EF4-FFF2-40B4-BE49-F238E27FC236}">
                <a16:creationId xmlns:a16="http://schemas.microsoft.com/office/drawing/2014/main" id="{CD3C915B-84BE-458E-ACD1-CAF8FD3D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029200"/>
            <a:ext cx="1185672" cy="8229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ECFA"/>
          </a:solidFill>
          <a:ln xmlns:a="http://schemas.openxmlformats.org/drawingml/2006/main" w="15875">
            <a:solidFill>
              <a:srgbClr val="1E276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371" name="TextBox 15370">
            <a:extLst xmlns:a="http://schemas.openxmlformats.org/drawingml/2006/main">
              <a:ext uri="{FF2B5EF4-FFF2-40B4-BE49-F238E27FC236}">
                <a16:creationId xmlns:a16="http://schemas.microsoft.com/office/drawing/2014/main" id="{D8B9480D-1BBE-4566-8C8F-D433CD06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140085"/>
            <a:ext cx="1185672" cy="601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Opposing sunlight</a:t>
            </a:r>
            <a:endParaRPr sz="950" b="1">
              <a:solidFill>
                <a:srgbClr val="1E276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800">
                <a:solidFill>
                  <a:srgbClr val="5A6472"/>
                </a:solidFill>
                <a:latin typeface="Arial"/>
                <a:ea typeface="Arial"/>
                <a:cs typeface="Arial"/>
              </a:rPr>
              <a:t>Azimuths roughly</a:t>
            </a: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800">
                <a:solidFill>
                  <a:srgbClr val="5A6472"/>
                </a:solidFill>
                <a:latin typeface="Arial"/>
                <a:ea typeface="Arial"/>
                <a:cs typeface="Arial"/>
              </a:rPr>
              <a:t>180 deg apart</a:t>
            </a:r>
            <a:endParaRPr sz="800" b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72" name="Right Arrow 15371">
            <a:extLst xmlns:a="http://schemas.openxmlformats.org/drawingml/2006/main">
              <a:ext uri="{FF2B5EF4-FFF2-40B4-BE49-F238E27FC236}">
                <a16:creationId xmlns:a16="http://schemas.microsoft.com/office/drawing/2014/main" id="{B7FD3774-2E3D-4EA8-8008-31AA2260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67528"/>
            <a:ext cx="219456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373" name="Rounded Rectangle 15372">
            <a:extLst xmlns:a="http://schemas.openxmlformats.org/drawingml/2006/main">
              <a:ext uri="{FF2B5EF4-FFF2-40B4-BE49-F238E27FC236}">
                <a16:creationId xmlns:a16="http://schemas.microsoft.com/office/drawing/2014/main" id="{150DE70F-213F-4BD5-A308-83D63595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2664" y="5029200"/>
            <a:ext cx="1185672" cy="8229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CADCFC"/>
          </a:solidFill>
          <a:ln xmlns:a="http://schemas.openxmlformats.org/drawingml/2006/main" w="15875">
            <a:solidFill>
              <a:srgbClr val="1E276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374" name="TextBox 15373">
            <a:extLst xmlns:a="http://schemas.openxmlformats.org/drawingml/2006/main">
              <a:ext uri="{FF2B5EF4-FFF2-40B4-BE49-F238E27FC236}">
                <a16:creationId xmlns:a16="http://schemas.microsoft.com/office/drawing/2014/main" id="{A8447D7B-30D0-4950-80A4-E2905779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2664" y="5208052"/>
            <a:ext cx="1185672" cy="465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Shading inversion</a:t>
            </a:r>
            <a:endParaRPr sz="950" b="1">
              <a:solidFill>
                <a:srgbClr val="1E276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800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Raw correlation</a:t>
            </a:r>
            <a:endParaRPr sz="800" b="0">
              <a:solidFill>
                <a:srgbClr val="5A647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800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{kaguya_corr}, 512 px window</a:t>
            </a:r>
            <a:endParaRPr sz="800" b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75" name="Right Arrow 15374">
            <a:extLst xmlns:a="http://schemas.openxmlformats.org/drawingml/2006/main">
              <a:ext uri="{FF2B5EF4-FFF2-40B4-BE49-F238E27FC236}">
                <a16:creationId xmlns:a16="http://schemas.microsoft.com/office/drawing/2014/main" id="{B7A6CA0B-AA65-4788-B4C7-9600A178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344" y="5367528"/>
            <a:ext cx="219456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376" name="Rounded Rectangle 15375">
            <a:extLst xmlns:a="http://schemas.openxmlformats.org/drawingml/2006/main">
              <a:ext uri="{FF2B5EF4-FFF2-40B4-BE49-F238E27FC236}">
                <a16:creationId xmlns:a16="http://schemas.microsoft.com/office/drawing/2014/main" id="{E764B66C-BC38-4402-9D50-C39D0B7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5808" y="5029200"/>
            <a:ext cx="1185672" cy="8229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AECE6"/>
          </a:solidFill>
          <a:ln xmlns:a="http://schemas.openxmlformats.org/drawingml/2006/main" w="15875">
            <a:solidFill>
              <a:srgbClr val="C144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377" name="TextBox 15376">
            <a:extLst xmlns:a="http://schemas.openxmlformats.org/drawingml/2006/main">
              <a:ext uri="{FF2B5EF4-FFF2-40B4-BE49-F238E27FC236}">
                <a16:creationId xmlns:a16="http://schemas.microsoft.com/office/drawing/2014/main" id="{A580DA53-7BDD-4BE7-96FC-F555D292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3526" y="5164750"/>
            <a:ext cx="1249680" cy="601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1">
                <a:solidFill>
                  <a:srgbClr val="C1440E"/>
                </a:solidFill>
                <a:latin typeface="Arial"/>
                <a:ea typeface="Arial"/>
                <a:cs typeface="Arial"/>
              </a:rPr>
              <a:t>Local contrast</a:t>
            </a: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800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Terrain structure</a:t>
            </a: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800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remains matchable</a:t>
            </a:r>
            <a:endParaRPr sz="800" b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39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7aaf9e89a40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6966" y="1904767"/>
            <a:ext cx="4206240" cy="1984434"/>
          </a:xfrm>
          <a:prstGeom xmlns:a="http://schemas.openxmlformats.org/drawingml/2006/main" prst="rect">
            <a:avLst/>
          </a:prstGeom>
        </p:spPr>
      </p:pic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A72FF8F8-40A6-53B3-5384-54117F05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" y="252095"/>
            <a:ext cx="1407160" cy="80708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SANDHI</a:t>
            </a:r>
          </a:p>
        </p:txBody>
      </p:sp>
    </p:spTree>
    <p:extLst>
      <p:ext uri="{BB962C8B-B14F-4D97-AF65-F5344CB8AC3E}">
        <p14:creationId xmlns:p14="http://schemas.microsoft.com/office/powerpoint/2010/main" val="9401650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8B07D1A-8BE9-482B-8905-FCA97C0F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FA26F2-A87A-457B-80FE-2FBF1A2D58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pic>
        <p:nvPicPr>
          <p:cNvPr id="6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01ff5836a49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4F37CB-83BB-F9F5-6404-6132C6A8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1440"/>
            <a:ext cx="80741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 spc="100">
                <a:solidFill>
                  <a:srgbClr val="1E2761"/>
                </a:solidFill>
                <a:latin typeface="Times New Roman"/>
                <a:ea typeface="Times New Roman"/>
                <a:cs typeface="Times New Roman"/>
              </a:rPr>
              <a:t>TECHNICAL</a:t>
            </a:r>
            <a:r>
              <a:rPr sz="3000" b="1" spc="100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 APPROACH</a:t>
            </a:r>
            <a:endParaRPr sz="30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D6A30F04-6D84-B7E9-8A4F-2BF862CB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6928"/>
            <a:ext cx="80741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rPr>
              <a:t>Sun-Angle, Viewpoint &amp; Scale-Invariant Registration of Chandrayaan-2 Optical Imagery</a:t>
            </a:r>
            <a:endParaRPr sz="12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B935F80-9852-346C-F3C1-65006C82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59" y="1180089"/>
            <a:ext cx="4226831" cy="1446059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EAF0FB"/>
          </a:solidFill>
          <a:effectLst xmlns:a="http://schemas.openxmlformats.org/drawingml/2006/main"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 xmlns:a="http://schemas.openxmlformats.org/drawingml/2006/main">
          <a:bodyPr/>
          <a:p/>
        </p:txBody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A1404F81-7A5C-A7B1-C6F1-E1AC0DFE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52" y="1253242"/>
            <a:ext cx="38313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</a:rPr>
              <a:t>Stack &amp; Tooling</a:t>
            </a:r>
            <a:endParaRPr sz="1400"/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7AA02570-527F-C30A-6E47-53CD016C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51" y="1545850"/>
            <a:ext cx="4124989" cy="10802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00">
                <a:solidFill>
                  <a:srgbClr val="333333"/>
                </a:solidFill>
              </a:rPr>
              <a:t>Runtime: Python 3.11</a:t>
            </a:r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00">
                <a:solidFill>
                  <a:srgbClr val="333333"/>
                </a:solidFill>
              </a:rPr>
              <a:t>Vision: PyTorch, Kornia and LoFTR</a:t>
            </a:r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00">
                <a:solidFill>
                  <a:srgbClr val="333333"/>
                </a:solidFill>
              </a:rPr>
              <a:t>Geospatial: rasterio / GDAL with PDS4 and ISIS3 drivers</a:t>
            </a:r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00">
                <a:solidFill>
                  <a:srgbClr val="333333"/>
                </a:solidFill>
              </a:rPr>
              <a:t>Numerics: OpenCV, NumPy and SciPy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72D3122-20D2-3DE2-CD0E-014C4074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63" y="2896687"/>
            <a:ext cx="4226831" cy="1330512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EAF0FB"/>
          </a:solidFill>
          <a:effectLst xmlns:a="http://schemas.openxmlformats.org/drawingml/2006/main"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 xmlns:a="http://schemas.openxmlformats.org/drawingml/2006/main">
          <a:bodyPr/>
          <a:p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BF5E963-F57B-6178-33BD-EEDD7DCB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56" y="2969839"/>
            <a:ext cx="38313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Algorithms &amp; models</a:t>
            </a:r>
            <a:endParaRPr sz="1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0A320B2-BEB1-8B76-391C-D3ABA3AD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24" y="3069180"/>
            <a:ext cx="3831336" cy="11069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SzPct val="100000"/>
              <a:buNone/>
            </a:pPr>
            <a:r>
              <a:t/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00">
                <a:solidFill>
                  <a:srgbClr val="333333"/>
                </a:solidFill>
              </a:rPr>
              <a:t>Matcher: pretrained LoFTR</a:t>
            </a:r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00">
                <a:solidFill>
                  <a:srgbClr val="333333"/>
                </a:solidFill>
              </a:rPr>
              <a:t>Local contrast plus phase refinement</a:t>
            </a:r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00">
                <a:solidFill>
                  <a:srgbClr val="333333"/>
                </a:solidFill>
              </a:rPr>
              <a:t>MAGSAC++ held-out model selection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87A2779-3A7A-EE7A-2C0F-096523B4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32" y="4613284"/>
            <a:ext cx="4160520" cy="1298448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EAF0FB"/>
          </a:solidFill>
          <a:effectLst xmlns:a="http://schemas.openxmlformats.org/drawingml/2006/main"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 xmlns:a="http://schemas.openxmlformats.org/drawingml/2006/main">
          <a:bodyPr/>
          <a:p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E9662FA-D13F-90B3-B11C-DF0FA054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56" y="4645070"/>
            <a:ext cx="38313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E2761"/>
                </a:solidFill>
              </a:rPr>
              <a:t>Data &amp; validation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CD56FA-E941-D142-5C63-B5ADD517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26" y="4927884"/>
            <a:ext cx="398526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FontTx/>
              <a:buChar char="•"/>
            </a:pPr>
            <a:r>
              <a:rPr sz="1200">
                <a:solidFill>
                  <a:srgbClr val="333333"/>
                </a:solidFill>
              </a:rPr>
              <a:t>Sources: OHRC 0.26 m/px, TMC-2 {tmc_gsd} m/px, IIRS 85.08 m/px</a:t>
            </a:r>
            <a:endParaRPr sz="1200">
              <a:solidFill>
                <a:srgbClr val="333333"/>
              </a:solidFill>
            </a:endParaRPr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00">
                <a:solidFill>
                  <a:srgbClr val="333333"/>
                </a:solidFill>
              </a:rPr>
              <a:t>References: Kaguya TC {ref_gsd} m/px, LROC NAC about 0.5 m/px</a:t>
            </a:r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00">
                <a:solidFill>
                  <a:srgbClr val="333333"/>
                </a:solidFill>
              </a:rPr>
              <a:t>Controls: real pair, raw roll, noise and grey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6096337E-FB49-53F0-BA8E-D2D9CC5A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180090"/>
            <a:ext cx="195072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C97A2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F7F60B0-B56B-33BF-E96F-B358D105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1180090"/>
            <a:ext cx="1804416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Chandrayaan-2 source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OHRC 0.26 m/px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TMC-2 {tmc_gsd} m/px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IIRS 85.08 m/px</a:t>
            </a:r>
            <a:endParaRPr sz="11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67E9930-8F44-D496-55A0-A04E412C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0040" y="1180090"/>
            <a:ext cx="195072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C97A2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62474D8-EA31-81B7-7486-14977C22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192" y="1180090"/>
            <a:ext cx="1804416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Reference imagery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Kaguya TC {ref_gsd} m/px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LROC NAC about 0.5 m/px</a:t>
            </a:r>
            <a:endParaRPr sz="11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0151D110-036B-417D-0EDC-387AD968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920" y="1180090"/>
            <a:ext cx="195072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C97A2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F66A70C-D74B-96F5-108B-AB3ED4B9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072" y="1180090"/>
            <a:ext cx="1804416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Terrain context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Kaguya TC DTM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LOLA and GLD100</a:t>
            </a:r>
            <a:endParaRPr sz="11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90E8BE5E-487A-B298-D237-5F48CA37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252" y="1280090"/>
            <a:ext cx="1188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1. Data</a:t>
            </a:r>
            <a:endParaRPr sz="1200"/>
          </a:p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and GSD</a:t>
            </a:r>
            <a:endParaRPr sz="120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ECFFE0E7-3F00-B189-44FB-3AFCADE8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620" y="1979802"/>
            <a:ext cx="0" cy="184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6B6B6B"/>
            </a:solidFill>
            <a:prstDash val="solid"/>
            <a:tailEnd type="triangle"/>
          </a:ln>
        </p:spPr>
        <p:txBody xmlns:a="http://schemas.openxmlformats.org/drawingml/2006/main">
          <a:bodyPr/>
          <a:p/>
        </p:txBody>
      </p:sp>
      <p:sp>
        <p:nvSpPr>
          <p:cNvPr id="28" name="Shape 27">
            <a:extLst xmlns:a="http://schemas.openxmlformats.org/drawingml/2006/main">
              <a:ext uri="{FF2B5EF4-FFF2-40B4-BE49-F238E27FC236}">
                <a16:creationId xmlns:a16="http://schemas.microsoft.com/office/drawing/2014/main" id="{5FCB8350-333C-7854-C5BF-2B68A64B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020" y="2164108"/>
            <a:ext cx="417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6B6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Shape 28">
            <a:extLst xmlns:a="http://schemas.openxmlformats.org/drawingml/2006/main">
              <a:ext uri="{FF2B5EF4-FFF2-40B4-BE49-F238E27FC236}">
                <a16:creationId xmlns:a16="http://schemas.microsoft.com/office/drawing/2014/main" id="{B98B4D45-882F-6163-E11D-146B9358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544" y="2164108"/>
            <a:ext cx="0" cy="1285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E2761"/>
            </a:solidFill>
            <a:prstDash val="solid"/>
            <a:tailEnd type="triangle"/>
          </a:ln>
        </p:spPr>
        <p:txBody xmlns:a="http://schemas.openxmlformats.org/drawingml/2006/main">
          <a:bodyPr/>
          <a:p/>
        </p:txBody>
      </p:sp>
      <p:sp>
        <p:nvSpPr>
          <p:cNvPr id="30" name="Shape 29">
            <a:extLst xmlns:a="http://schemas.openxmlformats.org/drawingml/2006/main">
              <a:ext uri="{FF2B5EF4-FFF2-40B4-BE49-F238E27FC236}">
                <a16:creationId xmlns:a16="http://schemas.microsoft.com/office/drawing/2014/main" id="{88544218-39FE-4739-B31C-E48A7468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2292669"/>
            <a:ext cx="612648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E276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Text 30">
            <a:extLst xmlns:a="http://schemas.openxmlformats.org/drawingml/2006/main">
              <a:ext uri="{FF2B5EF4-FFF2-40B4-BE49-F238E27FC236}">
                <a16:creationId xmlns:a16="http://schemas.microsoft.com/office/drawing/2014/main" id="{D84922F4-B441-AC56-4611-15C83421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464" y="2292669"/>
            <a:ext cx="5852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Preprocessing and coarse alignment</a:t>
            </a:r>
            <a:endParaRPr sz="125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Metadata GSD, common grid, local contrast and gross-shift removal</a:t>
            </a:r>
            <a:endParaRPr sz="1250"/>
          </a:p>
        </p:txBody>
      </p:sp>
      <p:sp>
        <p:nvSpPr>
          <p:cNvPr id="32" name="Text 31">
            <a:extLst xmlns:a="http://schemas.openxmlformats.org/drawingml/2006/main">
              <a:ext uri="{FF2B5EF4-FFF2-40B4-BE49-F238E27FC236}">
                <a16:creationId xmlns:a16="http://schemas.microsoft.com/office/drawing/2014/main" id="{29C0523B-1BA8-8973-4F96-EE2B574F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2256093"/>
            <a:ext cx="1188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2. Common-grid</a:t>
            </a:r>
            <a:endParaRPr sz="1200"/>
          </a:p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preprocessing</a:t>
            </a:r>
            <a:endParaRPr sz="1200"/>
          </a:p>
        </p:txBody>
      </p:sp>
      <p:sp>
        <p:nvSpPr>
          <p:cNvPr id="33" name="Shape 32">
            <a:extLst xmlns:a="http://schemas.openxmlformats.org/drawingml/2006/main">
              <a:ext uri="{FF2B5EF4-FFF2-40B4-BE49-F238E27FC236}">
                <a16:creationId xmlns:a16="http://schemas.microsoft.com/office/drawing/2014/main" id="{2D568941-4540-A5AD-DEA7-F881B21C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544" y="2859597"/>
            <a:ext cx="0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E2761"/>
            </a:solidFill>
            <a:prstDash val="solid"/>
            <a:tailEnd type="triangle"/>
          </a:ln>
        </p:spPr>
        <p:txBody xmlns:a="http://schemas.openxmlformats.org/drawingml/2006/main">
          <a:bodyPr/>
          <a:p/>
        </p:txBody>
      </p:sp>
      <p:sp>
        <p:nvSpPr>
          <p:cNvPr id="34" name="Shape 33">
            <a:extLst xmlns:a="http://schemas.openxmlformats.org/drawingml/2006/main">
              <a:ext uri="{FF2B5EF4-FFF2-40B4-BE49-F238E27FC236}">
                <a16:creationId xmlns:a16="http://schemas.microsoft.com/office/drawing/2014/main" id="{664873D2-406A-2023-DA8F-2DE6E395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2996757"/>
            <a:ext cx="612648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7A2E3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Text 34">
            <a:extLst xmlns:a="http://schemas.openxmlformats.org/drawingml/2006/main">
              <a:ext uri="{FF2B5EF4-FFF2-40B4-BE49-F238E27FC236}">
                <a16:creationId xmlns:a16="http://schemas.microsoft.com/office/drawing/2014/main" id="{F3555DEA-1120-2F24-9150-A4E83CBC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464" y="2996757"/>
            <a:ext cx="5852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Tiled matching and registration</a:t>
            </a:r>
            <a:endParaRPr sz="125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LoFTR per tile with sub-pixel patch refinement</a:t>
            </a:r>
            <a:endParaRPr sz="1250"/>
          </a:p>
        </p:txBody>
      </p:sp>
      <p:sp>
        <p:nvSpPr>
          <p:cNvPr id="36" name="Text 35">
            <a:extLst xmlns:a="http://schemas.openxmlformats.org/drawingml/2006/main">
              <a:ext uri="{FF2B5EF4-FFF2-40B4-BE49-F238E27FC236}">
                <a16:creationId xmlns:a16="http://schemas.microsoft.com/office/drawing/2014/main" id="{57702696-3851-FACA-E8F9-CE107261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3065337"/>
            <a:ext cx="1188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3. Dense matching</a:t>
            </a:r>
            <a:endParaRPr sz="1200"/>
          </a:p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and refinement</a:t>
            </a:r>
            <a:endParaRPr sz="1200"/>
          </a:p>
        </p:txBody>
      </p:sp>
      <p:sp>
        <p:nvSpPr>
          <p:cNvPr id="37" name="Shape 36">
            <a:extLst xmlns:a="http://schemas.openxmlformats.org/drawingml/2006/main">
              <a:ext uri="{FF2B5EF4-FFF2-40B4-BE49-F238E27FC236}">
                <a16:creationId xmlns:a16="http://schemas.microsoft.com/office/drawing/2014/main" id="{61A268F9-2D02-2360-7C6D-A1BA1117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544" y="3773997"/>
            <a:ext cx="0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E2761"/>
            </a:solidFill>
            <a:prstDash val="solid"/>
            <a:tailEnd type="triangle"/>
          </a:ln>
        </p:spPr>
        <p:txBody xmlns:a="http://schemas.openxmlformats.org/drawingml/2006/main">
          <a:bodyPr/>
          <a:p/>
        </p:txBody>
      </p:sp>
      <p:sp>
        <p:nvSpPr>
          <p:cNvPr id="38" name="Shape 37">
            <a:extLst xmlns:a="http://schemas.openxmlformats.org/drawingml/2006/main">
              <a:ext uri="{FF2B5EF4-FFF2-40B4-BE49-F238E27FC236}">
                <a16:creationId xmlns:a16="http://schemas.microsoft.com/office/drawing/2014/main" id="{EAFE97CF-9EC4-EEC6-AB93-594C53B8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3911157"/>
            <a:ext cx="612648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3F7D4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Text 38">
            <a:extLst xmlns:a="http://schemas.openxmlformats.org/drawingml/2006/main">
              <a:ext uri="{FF2B5EF4-FFF2-40B4-BE49-F238E27FC236}">
                <a16:creationId xmlns:a16="http://schemas.microsoft.com/office/drawing/2014/main" id="{3FE6A026-C934-ECED-65B1-41D36AE4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464" y="3911157"/>
            <a:ext cx="5852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Control gate and outputs</a:t>
            </a:r>
            <a:endParaRPr sz="125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Four controls, robust fitting and quality metrics</a:t>
            </a:r>
            <a:endParaRPr sz="1250"/>
          </a:p>
        </p:txBody>
      </p:sp>
      <p:sp>
        <p:nvSpPr>
          <p:cNvPr id="40" name="Text 39">
            <a:extLst xmlns:a="http://schemas.openxmlformats.org/drawingml/2006/main">
              <a:ext uri="{FF2B5EF4-FFF2-40B4-BE49-F238E27FC236}">
                <a16:creationId xmlns:a16="http://schemas.microsoft.com/office/drawing/2014/main" id="{8054A9D0-2AF2-163D-81F9-0B6C4A0C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3874581"/>
            <a:ext cx="1188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4. Validation</a:t>
            </a:r>
            <a:endParaRPr sz="1200"/>
          </a:p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and delivery</a:t>
            </a:r>
            <a:endParaRPr sz="1200"/>
          </a:p>
        </p:txBody>
      </p:sp>
      <p:sp>
        <p:nvSpPr>
          <p:cNvPr id="41" name="Shape 40">
            <a:extLst xmlns:a="http://schemas.openxmlformats.org/drawingml/2006/main">
              <a:ext uri="{FF2B5EF4-FFF2-40B4-BE49-F238E27FC236}">
                <a16:creationId xmlns:a16="http://schemas.microsoft.com/office/drawing/2014/main" id="{E914189F-895F-06D9-6AD9-14FC496B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544" y="4478085"/>
            <a:ext cx="0" cy="2115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6B6B6B"/>
            </a:solidFill>
            <a:prstDash val="solid"/>
            <a:tailEnd type="triangle"/>
          </a:ln>
        </p:spPr>
        <p:txBody xmlns:a="http://schemas.openxmlformats.org/drawingml/2006/main">
          <a:bodyPr/>
          <a:p/>
        </p:txBody>
      </p:sp>
      <p:sp>
        <p:nvSpPr>
          <p:cNvPr id="42" name="Shape 41">
            <a:extLst xmlns:a="http://schemas.openxmlformats.org/drawingml/2006/main">
              <a:ext uri="{FF2B5EF4-FFF2-40B4-BE49-F238E27FC236}">
                <a16:creationId xmlns:a16="http://schemas.microsoft.com/office/drawing/2014/main" id="{A2D7905A-0A68-041E-6F7E-CB674617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070" y="4704506"/>
            <a:ext cx="46840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6B6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Shape 42">
            <a:extLst xmlns:a="http://schemas.openxmlformats.org/drawingml/2006/main">
              <a:ext uri="{FF2B5EF4-FFF2-40B4-BE49-F238E27FC236}">
                <a16:creationId xmlns:a16="http://schemas.microsoft.com/office/drawing/2014/main" id="{EF6AA4D4-1FED-3683-A7A2-E6D7A5CC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070" y="4704506"/>
            <a:ext cx="0" cy="1702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6B6B6B"/>
            </a:solidFill>
            <a:prstDash val="solid"/>
            <a:tailEnd type="triangle"/>
          </a:ln>
        </p:spPr>
        <p:txBody xmlns:a="http://schemas.openxmlformats.org/drawingml/2006/main">
          <a:bodyPr/>
          <a:p/>
        </p:txBody>
      </p:sp>
      <p:sp>
        <p:nvSpPr>
          <p:cNvPr id="44" name="Shape 43">
            <a:extLst xmlns:a="http://schemas.openxmlformats.org/drawingml/2006/main">
              <a:ext uri="{FF2B5EF4-FFF2-40B4-BE49-F238E27FC236}">
                <a16:creationId xmlns:a16="http://schemas.microsoft.com/office/drawing/2014/main" id="{BB2B9FD8-9A6C-6F8B-A01D-683DE057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4874760"/>
            <a:ext cx="1442466" cy="105156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76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Text 44">
            <a:extLst xmlns:a="http://schemas.openxmlformats.org/drawingml/2006/main">
              <a:ext uri="{FF2B5EF4-FFF2-40B4-BE49-F238E27FC236}">
                <a16:creationId xmlns:a16="http://schemas.microsoft.com/office/drawing/2014/main" id="{90F7C82D-23C7-1FC2-0339-1CA8D340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36" y="4874760"/>
            <a:ext cx="1296162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Registered image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87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GeoTIFF or PNG in the reference frame</a:t>
            </a:r>
            <a:endParaRPr sz="1050"/>
          </a:p>
        </p:txBody>
      </p:sp>
      <p:sp>
        <p:nvSpPr>
          <p:cNvPr id="46" name="Shape 45">
            <a:extLst xmlns:a="http://schemas.openxmlformats.org/drawingml/2006/main">
              <a:ext uri="{FF2B5EF4-FFF2-40B4-BE49-F238E27FC236}">
                <a16:creationId xmlns:a16="http://schemas.microsoft.com/office/drawing/2014/main" id="{987715E4-20A6-533D-DCC8-8580BF76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179" y="4704506"/>
            <a:ext cx="0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6B6B6B"/>
            </a:solidFill>
            <a:prstDash val="solid"/>
            <a:tailEnd type="triangle"/>
          </a:ln>
        </p:spPr>
        <p:txBody xmlns:a="http://schemas.openxmlformats.org/drawingml/2006/main">
          <a:bodyPr/>
          <a:p/>
        </p:txBody>
      </p:sp>
      <p:sp>
        <p:nvSpPr>
          <p:cNvPr id="47" name="Shape 46">
            <a:extLst xmlns:a="http://schemas.openxmlformats.org/drawingml/2006/main">
              <a:ext uri="{FF2B5EF4-FFF2-40B4-BE49-F238E27FC236}">
                <a16:creationId xmlns:a16="http://schemas.microsoft.com/office/drawing/2014/main" id="{A2620B84-99AF-6C95-D66E-83716009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922" y="4874760"/>
            <a:ext cx="1442466" cy="105156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76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Text 47">
            <a:extLst xmlns:a="http://schemas.openxmlformats.org/drawingml/2006/main">
              <a:ext uri="{FF2B5EF4-FFF2-40B4-BE49-F238E27FC236}">
                <a16:creationId xmlns:a16="http://schemas.microsoft.com/office/drawing/2014/main" id="{09458E89-3CFC-8A93-E958-E9B493F2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074" y="4874760"/>
            <a:ext cx="1296162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Match-point CSV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87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Coordinates, confidence, residual and inlier flag</a:t>
            </a:r>
            <a:endParaRPr sz="1050"/>
          </a:p>
        </p:txBody>
      </p:sp>
      <p:sp>
        <p:nvSpPr>
          <p:cNvPr id="49" name="Shape 48">
            <a:extLst xmlns:a="http://schemas.openxmlformats.org/drawingml/2006/main">
              <a:ext uri="{FF2B5EF4-FFF2-40B4-BE49-F238E27FC236}">
                <a16:creationId xmlns:a16="http://schemas.microsoft.com/office/drawing/2014/main" id="{D9323DC5-7FB6-83C0-4255-3DCA8963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517" y="4704506"/>
            <a:ext cx="0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6B6B6B"/>
            </a:solidFill>
            <a:prstDash val="solid"/>
            <a:tailEnd type="triangle"/>
          </a:ln>
        </p:spPr>
        <p:txBody xmlns:a="http://schemas.openxmlformats.org/drawingml/2006/main">
          <a:bodyPr/>
          <a:p/>
        </p:txBody>
      </p:sp>
      <p:sp>
        <p:nvSpPr>
          <p:cNvPr id="50" name="Shape 49">
            <a:extLst xmlns:a="http://schemas.openxmlformats.org/drawingml/2006/main">
              <a:ext uri="{FF2B5EF4-FFF2-40B4-BE49-F238E27FC236}">
                <a16:creationId xmlns:a16="http://schemas.microsoft.com/office/drawing/2014/main" id="{2EE0C410-3F8A-F408-1E24-05182409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260" y="4874760"/>
            <a:ext cx="1442466" cy="105156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76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Text 50">
            <a:extLst xmlns:a="http://schemas.openxmlformats.org/drawingml/2006/main">
              <a:ext uri="{FF2B5EF4-FFF2-40B4-BE49-F238E27FC236}">
                <a16:creationId xmlns:a16="http://schemas.microsoft.com/office/drawing/2014/main" id="{60F1FA35-8BA1-87CA-CCBA-DA291B63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412" y="4874760"/>
            <a:ext cx="1296162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TMC-2 scorecard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87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{tmc_source_px} source px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87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Coverage {tmc_coverage}</a:t>
            </a:r>
            <a:endParaRPr sz="1050"/>
          </a:p>
        </p:txBody>
      </p:sp>
      <p:sp>
        <p:nvSpPr>
          <p:cNvPr id="52" name="Shape 51">
            <a:extLst xmlns:a="http://schemas.openxmlformats.org/drawingml/2006/main">
              <a:ext uri="{FF2B5EF4-FFF2-40B4-BE49-F238E27FC236}">
                <a16:creationId xmlns:a16="http://schemas.microsoft.com/office/drawing/2014/main" id="{94493C19-9C08-205C-4D8A-78316D9A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2855" y="4704506"/>
            <a:ext cx="0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6B6B6B"/>
            </a:solidFill>
            <a:prstDash val="solid"/>
            <a:tailEnd type="triangle"/>
          </a:ln>
        </p:spPr>
        <p:txBody xmlns:a="http://schemas.openxmlformats.org/drawingml/2006/main">
          <a:bodyPr/>
          <a:p/>
        </p:txBody>
      </p:sp>
      <p:sp>
        <p:nvSpPr>
          <p:cNvPr id="53" name="Shape 52">
            <a:extLst xmlns:a="http://schemas.openxmlformats.org/drawingml/2006/main">
              <a:ext uri="{FF2B5EF4-FFF2-40B4-BE49-F238E27FC236}">
                <a16:creationId xmlns:a16="http://schemas.microsoft.com/office/drawing/2014/main" id="{8A3B2AA3-409C-5ACE-1FD1-93CEA386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598" y="4874760"/>
            <a:ext cx="1442466" cy="105156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76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4" name="Text 53">
            <a:extLst xmlns:a="http://schemas.openxmlformats.org/drawingml/2006/main">
              <a:ext uri="{FF2B5EF4-FFF2-40B4-BE49-F238E27FC236}">
                <a16:creationId xmlns:a16="http://schemas.microsoft.com/office/drawing/2014/main" id="{15268113-3F85-11EE-2154-53859CCA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874760"/>
            <a:ext cx="1296162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Control report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87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Four-control pass/fail log</a:t>
            </a:r>
            <a:endParaRPr sz="1050"/>
          </a:p>
        </p:txBody>
      </p:sp>
      <p:sp>
        <p:nvSpPr>
          <p:cNvPr id="56" name="Shape 24">
            <a:extLst xmlns:a="http://schemas.openxmlformats.org/drawingml/2006/main">
              <a:ext uri="{FF2B5EF4-FFF2-40B4-BE49-F238E27FC236}">
                <a16:creationId xmlns:a16="http://schemas.microsoft.com/office/drawing/2014/main" id="{23CCC28C-FCB9-C371-976D-F7599D09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2258" y="1979802"/>
            <a:ext cx="0" cy="184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6B6B6B"/>
            </a:solidFill>
            <a:prstDash val="solid"/>
            <a:tailEnd type="triangle"/>
          </a:ln>
        </p:spPr>
        <p:txBody xmlns:a="http://schemas.openxmlformats.org/drawingml/2006/main">
          <a:bodyPr/>
          <a:p/>
        </p:txBody>
      </p:sp>
      <p:sp>
        <p:nvSpPr>
          <p:cNvPr id="57" name="Shape 24">
            <a:extLst xmlns:a="http://schemas.openxmlformats.org/drawingml/2006/main">
              <a:ext uri="{FF2B5EF4-FFF2-40B4-BE49-F238E27FC236}">
                <a16:creationId xmlns:a16="http://schemas.microsoft.com/office/drawing/2014/main" id="{DB0D36B2-2269-1C8F-DAA0-4D1180D6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0378" y="1979802"/>
            <a:ext cx="0" cy="184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6B6B6B"/>
            </a:solidFill>
            <a:prstDash val="solid"/>
            <a:tailEnd type="triangle"/>
          </a:ln>
        </p:spPr>
        <p:txBody xmlns:a="http://schemas.openxmlformats.org/drawingml/2006/main">
          <a:bodyPr/>
          <a:p/>
        </p:txBody>
      </p:sp>
      <p:sp>
        <p:nvSpPr>
          <p:cNvPr id="60" name="Oval 59">
            <a:extLst xmlns:a="http://schemas.openxmlformats.org/drawingml/2006/main">
              <a:ext uri="{FF2B5EF4-FFF2-40B4-BE49-F238E27FC236}">
                <a16:creationId xmlns:a16="http://schemas.microsoft.com/office/drawing/2014/main" id="{4CBDE07C-7F53-3CD5-93BE-6CDCC3B4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" y="252095"/>
            <a:ext cx="1407160" cy="80708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SANDHI</a:t>
            </a:r>
          </a:p>
        </p:txBody>
      </p:sp>
    </p:spTree>
    <p:extLst>
      <p:ext uri="{BB962C8B-B14F-4D97-AF65-F5344CB8AC3E}">
        <p14:creationId xmlns:p14="http://schemas.microsoft.com/office/powerpoint/2010/main" val="13149080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307D372-04EF-91A0-D970-825C5BA1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itle 1">
            <a:extLst xmlns:a="http://schemas.openxmlformats.org/drawingml/2006/main">
              <a:ext uri="{FF2B5EF4-FFF2-40B4-BE49-F238E27FC236}">
                <a16:creationId xmlns:a16="http://schemas.microsoft.com/office/drawing/2014/main" id="{DEEA6AE7-3011-BC5D-9058-9226CE76A1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BB1F0A3-6DC8-3CBF-BA45-A25317E065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29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d645812764b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8E0FD2AC-1C99-0DB1-7C9B-A6CF5C62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" y="252095"/>
            <a:ext cx="1407160" cy="80708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SANDHI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3FD9551-6AD3-CC16-0E30-20B446F2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57" y="1358900"/>
            <a:ext cx="7031115" cy="4493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tx2"/>
                </a:solidFill>
                <a:latin typeface="+mn-lt"/>
                <a:ea typeface="+mn-lt"/>
                <a:cs typeface="+mn-lt"/>
              </a:rPr>
              <a:t>Feasibility</a:t>
            </a:r>
          </a:p>
          <a:p xmlns:a="http://schemas.openxmlformats.org/drawingml/2006/main">
            <a:pPr marL="171450" indent="-171450">
              <a:buFont typeface="Wingdings"/>
              <a:buChar char="§"/>
            </a:pPr>
            <a:r>
              <a:rPr sz="1400" b="1">
                <a:latin typeface="+mn-lt"/>
                <a:ea typeface="+mn-lt"/>
                <a:cs typeface="+mn-lt"/>
              </a:rPr>
              <a:t>Reproducible laptop-CPU demo runs in about 20 seconds per image pair</a:t>
            </a:r>
          </a:p>
          <a:p xmlns:a="http://schemas.openxmlformats.org/drawingml/2006/main">
            <a:pPr marL="171450" indent="-171450">
              <a:buFont typeface="Wingdings"/>
              <a:buChar char="§"/>
            </a:pPr>
            <a:r>
              <a:rPr sz="1400" b="1">
                <a:latin typeface="+mn-lt"/>
                <a:ea typeface="+mn-lt"/>
                <a:cs typeface="+mn-lt"/>
              </a:rPr>
              <a:t>Three MB of genuine committed samples let reviewers run without imagery downloads</a:t>
            </a:r>
          </a:p>
          <a:p xmlns:a="http://schemas.openxmlformats.org/drawingml/2006/main">
            <a:pPr marL="171450" indent="-171450">
              <a:buFont typeface="Wingdings"/>
              <a:buChar char="§"/>
            </a:pPr>
            <a:r>
              <a:rPr sz="1400" b="1">
                <a:latin typeface="+mn-lt"/>
                <a:ea typeface="+mn-lt"/>
                <a:cs typeface="+mn-lt"/>
              </a:rPr>
              <a:t>TMC-2 to Kaguya, full product: {tmc_matches} matches, {tmc_inlier_pct} inliers, {tmc_rmse_px} common-grid px and {tmc_source_px} source px</a:t>
            </a:r>
          </a:p>
          <a:p xmlns:a="http://schemas.openxmlformats.org/drawingml/2006/main">
            <a:pPr marL="171450" indent="-171450">
              <a:buFont typeface="Wingdings"/>
              <a:buChar char="§"/>
            </a:pPr>
            <a:r>
              <a:rPr sz="1400" b="1">
                <a:latin typeface="+mn-lt"/>
                <a:ea typeface="+mn-lt"/>
                <a:cs typeface="+mn-lt"/>
              </a:rPr>
              <a:t/>
            </a:r>
          </a:p>
          <a:p xmlns:a="http://schemas.openxmlformats.org/drawingml/2006/main">
            <a:r>
              <a:t>Known limits</a:t>
            </a:r>
            <a:endParaRPr sz="1400">
              <a:solidFill>
                <a:srgbClr val="C00000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r>
              <a:rPr sz="1600" b="1">
                <a:solidFill>
                  <a:srgbClr val="C00000"/>
                </a:solidFill>
                <a:latin typeface="+mn-lt"/>
                <a:ea typeface="+mn-lt"/>
                <a:cs typeface="+mn-lt"/>
              </a:rPr>
              <a:t>IIRS to Kaguya does not register: {iirs_matches} matches and {iirs_inliers} inliers</a:t>
            </a:r>
          </a:p>
          <a:p xmlns:a="http://schemas.openxmlformats.org/drawingml/2006/main">
            <a:pPr marL="171450" indent="-171450">
              <a:buFont typeface="Wingdings"/>
              <a:buChar char="§"/>
            </a:pPr>
            <a:r>
              <a:rPr sz="1400" b="1">
                <a:latin typeface="+mn-lt"/>
                <a:ea typeface="+mn-lt"/>
                <a:cs typeface="+mn-lt"/>
              </a:rPr>
              <a:t>OHRC with a {ref_gsd} m Kaguya reference is reference-limited in source pixels; LROC NAC is the planned reference</a:t>
            </a:r>
          </a:p>
          <a:p xmlns:a="http://schemas.openxmlformats.org/drawingml/2006/main">
            <a:pPr marL="171450" indent="-171450">
              <a:buFont typeface="Wingdings"/>
              <a:buChar char="§"/>
            </a:pPr>
            <a:r>
              <a:rPr sz="1400" b="1">
                <a:latin typeface="+mn-lt"/>
                <a:ea typeface="+mn-lt"/>
                <a:cs typeface="+mn-lt"/>
              </a:rPr>
              <a:t>The viewpoint result succeeds at 12.3 deg under favourable conditions, not a hard limit</a:t>
            </a:r>
          </a:p>
          <a:p xmlns:a="http://schemas.openxmlformats.org/drawingml/2006/main">
            <a:pPr marL="171450" indent="-171450">
              <a:buFont typeface="Wingdings"/>
              <a:buChar char="§"/>
            </a:pPr>
            <a:r>
              <a:rPr sz="1400" b="1">
                <a:latin typeface="+mn-lt"/>
                <a:ea typeface="+mn-lt"/>
                <a:cs typeface="+mn-lt"/>
              </a:rPr>
              <a:t/>
            </a:r>
          </a:p>
          <a:p xmlns:a="http://schemas.openxmlformats.org/drawingml/2006/main">
            <a:r>
              <a:t>Risk control</a:t>
            </a:r>
            <a:endParaRPr sz="1400" b="1">
              <a:solidFill>
                <a:schemeClr val="accent1">
                  <a:lumMod val="50000"/>
                </a:schemeClr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r>
              <a:rPr sz="1600" b="1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The four-control gate rejects artifact-driven matches before reporting</a:t>
            </a:r>
            <a:endParaRPr sz="1600" b="1">
              <a:solidFill>
                <a:schemeClr val="tx2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171450" indent="-171450">
              <a:buFont typeface="Wingdings"/>
              <a:buChar char="§"/>
            </a:pPr>
            <a:r>
              <a:rPr sz="1400" b="1">
                <a:latin typeface="+mn-lt"/>
                <a:ea typeface="+mn-lt"/>
                <a:cs typeface="+mn-lt"/>
              </a:rPr>
              <a:t>Coarse alignment recovers OHRC's approximate 437 px residual before tiled matching</a:t>
            </a:r>
          </a:p>
          <a:p xmlns:a="http://schemas.openxmlformats.org/drawingml/2006/main">
            <a:pPr marL="171450" indent="-171450">
              <a:buFont typeface="Wingdings"/>
              <a:buChar char="§"/>
            </a:pPr>
            <a:r>
              <a:rPr sz="1400" b="1">
                <a:latin typeface="+mn-lt"/>
                <a:ea typeface="+mn-lt"/>
                <a:cs typeface="+mn-lt"/>
              </a:rPr>
              <a:t>Evidence attributes the kilometre-scale OHRC offset to source geolocation, not our projection</a:t>
            </a:r>
          </a:p>
        </p:txBody>
      </p:sp>
      <p:pic>
        <p:nvPicPr>
          <p:cNvPr id="3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d8a3c7a00451b"/>
          <a:srcRect xmlns:a="http://schemas.openxmlformats.org/drawingml/2006/main" l="1" t="0" r="350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4921" y="1526227"/>
            <a:ext cx="3075210" cy="2703517"/>
          </a:xfrm>
          <a:prstGeom xmlns:a="http://schemas.openxmlformats.org/drawingml/2006/main" prst="rect">
            <a:avLst/>
          </a:prstGeom>
        </p:spPr>
      </p:pic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32C5995-CE25-9089-68D5-3125A67A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572" y="4344639"/>
            <a:ext cx="4117908" cy="7335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Real OHRC registration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Green marks inliers and red marks rejected candidates. Whole-image coarse alignment recovers the approximate 437 px residual before tiling. Phase correlation independently agrees within 0.51 px.</a:t>
            </a:r>
          </a:p>
        </p:txBody>
      </p:sp>
    </p:spTree>
    <p:extLst>
      <p:ext uri="{BB962C8B-B14F-4D97-AF65-F5344CB8AC3E}">
        <p14:creationId xmlns:p14="http://schemas.microsoft.com/office/powerpoint/2010/main" val="11319401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213110B-4B80-77B3-FEC5-1E4B36B4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6B05F281-0775-C1AF-0B9F-9A67134344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B2CBA9CF-2A3E-0330-1554-0CE1F213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" y="1059180"/>
            <a:ext cx="7086600" cy="2277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tx2"/>
                </a:solidFill>
                <a:latin typeface="+mn-lt"/>
                <a:ea typeface="+mn-lt"/>
                <a:cs typeface="+mn-lt"/>
              </a:rPr>
              <a:t>Scientific and operational value</a:t>
            </a:r>
          </a:p>
          <a:p xmlns:a="http://schemas.openxmlformats.org/drawingml/2006/main">
            <a:pPr marL="285750" indent="-285750">
              <a:buFont typeface="Wingdings"/>
              <a:buChar char="§"/>
            </a:pPr>
            <a:r>
              <a:rPr sz="1400" b="1">
                <a:latin typeface="+mn-lt"/>
                <a:ea typeface="+mn-lt"/>
                <a:cs typeface="+mn-lt"/>
              </a:rPr>
              <a:t>Places imagery from different lunar sensors into a common reference frame</a:t>
            </a:r>
          </a:p>
          <a:p xmlns:a="http://schemas.openxmlformats.org/drawingml/2006/main">
            <a:pPr marL="285750" indent="-285750">
              <a:buFont typeface="Wingdings"/>
              <a:buChar char="§"/>
            </a:pPr>
            <a:r>
              <a:rPr sz="1400" b="1">
                <a:latin typeface="+mn-lt"/>
                <a:ea typeface="+mn-lt"/>
                <a:cs typeface="+mn-lt"/>
              </a:rPr>
              <a:t>Supports mosaicking, cross-sensor comparison and surface-change analysis</a:t>
            </a:r>
          </a:p>
          <a:p xmlns:a="http://schemas.openxmlformats.org/drawingml/2006/main">
            <a:pPr marL="285750" indent="-285750">
              <a:buFont typeface="Wingdings"/>
              <a:buChar char="§"/>
            </a:pPr>
            <a:r>
              <a:rPr sz="1400" b="1">
                <a:latin typeface="+mn-lt"/>
                <a:ea typeface="+mn-lt"/>
                <a:cs typeface="+mn-lt"/>
              </a:rPr>
              <a:t>Exposes residual geolocation shifts before analysts use a product downstream</a:t>
            </a:r>
          </a:p>
          <a:p xmlns:a="http://schemas.openxmlformats.org/drawingml/2006/main">
            <a:pPr marL="285750" indent="-285750">
              <a:buFont typeface="Wingdings"/>
              <a:buChar char="§"/>
            </a:pPr>
            <a:r>
              <a:rPr sz="1400" b="1">
                <a:latin typeface="+mn-lt"/>
                <a:ea typeface="+mn-lt"/>
                <a:cs typeface="+mn-lt"/>
              </a:rPr>
              <a:t>Reuses existing Chandrayaan-2, Kaguya and public lunar archives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0B3802-33AC-3326-19C3-ECBD3D22F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23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c0087c54246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pic>
        <p:nvPicPr>
          <p:cNvPr id="24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d044484724b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0" y="1874519"/>
            <a:ext cx="4251960" cy="1454435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602ECF6-6880-FFBE-3EF7-81EA8BC4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520440"/>
            <a:ext cx="425196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2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OHRC source, Kaguya reference and registered result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000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The illustration shows registration against a lunar reference. Quality claims remain tied to the exact pair, metric unit and control-gate result.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200" b="1">
                <a:solidFill>
                  <a:srgbClr val="C1440E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200" b="1">
                <a:solidFill>
                  <a:srgbClr val="C1440E"/>
                </a:solidFill>
                <a:latin typeface="Arial"/>
                <a:ea typeface="Arial"/>
                <a:cs typeface="Arial"/>
              </a:rPr>
              <a:t>Survey-scale TMC-2, full product: {tmc_matches} matches, {tmc_source_px} source px and {tmc_coverage} coverage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787F7A4D-DA4B-4531-6EA8-7B816BDD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" y="252095"/>
            <a:ext cx="1407160" cy="80708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SANDHI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6FF20A0-A2B5-01E5-3047-5146A37B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19" y="3328954"/>
            <a:ext cx="6389328" cy="2492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tx2"/>
                </a:solidFill>
                <a:latin typeface="+mn-lt"/>
                <a:ea typeface="+mn-lt"/>
                <a:cs typeface="+mn-lt"/>
              </a:rPr>
              <a:t>Why the result is credible</a:t>
            </a:r>
          </a:p>
          <a:p xmlns:a="http://schemas.openxmlformats.org/drawingml/2006/main">
            <a:pPr marL="285750" indent="-285750">
              <a:buFont typeface="Wingdings"/>
              <a:buChar char="§"/>
            </a:pPr>
            <a:r>
              <a:rPr sz="1400" b="1">
                <a:latin typeface="+mn-lt"/>
                <a:ea typeface="+mn-lt"/>
                <a:cs typeface="+mn-lt"/>
              </a:rPr>
              <a:t>Quality reporting includes RMSE, inlier count, ratio, coverage and entropy</a:t>
            </a:r>
            <a:endParaRPr sz="1400">
              <a:latin typeface="+mn-lt"/>
              <a:ea typeface="+mn-lt"/>
              <a:cs typeface="+mn-lt"/>
            </a:endParaRPr>
          </a:p>
          <a:p xmlns:a="http://schemas.openxmlformats.org/drawingml/2006/main">
            <a:pPr marL="285750" indent="-285750">
              <a:buFont typeface="Wingdings"/>
              <a:buChar char="§"/>
            </a:pPr>
            <a:r>
              <a:rPr sz="1400" b="1">
                <a:latin typeface="+mn-lt"/>
                <a:ea typeface="+mn-lt"/>
                <a:cs typeface="+mn-lt"/>
              </a:rPr>
              <a:t>The source-pixel clause is met on TMC-2; OHRC's reference limit is stated instead of hidden</a:t>
            </a:r>
          </a:p>
          <a:p xmlns:a="http://schemas.openxmlformats.org/drawingml/2006/main">
            <a:pPr marL="285750" indent="-285750">
              <a:buFont typeface="Wingdings"/>
              <a:buChar char="§"/>
            </a:pPr>
            <a:r>
              <a:rPr sz="1400" b="1">
                <a:latin typeface="+mn-lt"/>
                <a:ea typeface="+mn-lt"/>
                <a:cs typeface="+mn-lt"/>
              </a:rPr>
              <a:t>Adversarial controls test that the matcher tracks terrain rather than a shared artifact</a:t>
            </a:r>
          </a:p>
          <a:p xmlns:a="http://schemas.openxmlformats.org/drawingml/2006/main">
            <a:pPr marL="285750" indent="-285750">
              <a:buFont typeface="Wingdings"/>
              <a:buChar char="§"/>
            </a:pPr>
            <a:r>
              <a:rPr sz="1400" b="1">
                <a:latin typeface="+mn-lt"/>
                <a:ea typeface="+mn-lt"/>
                <a:cs typeface="+mn-lt"/>
              </a:rPr>
              <a:t>Negative results remain visible: Stage B and two fine-tunes were rejected, while IIRS remains open</a:t>
            </a:r>
          </a:p>
        </p:txBody>
      </p:sp>
    </p:spTree>
    <p:extLst>
      <p:ext uri="{BB962C8B-B14F-4D97-AF65-F5344CB8AC3E}">
        <p14:creationId xmlns:p14="http://schemas.microsoft.com/office/powerpoint/2010/main" val="10709779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B22018D-B4F2-457F-BD2D-529C154E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28C061C3-BF8C-4347-8382-952BCD18D4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EVIDENCE AND REFERENCES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BD3EF9-D458-4493-AD93-34A34172D2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14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9d232164d4d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96326D5F-689E-4E76-A057-4E31AF72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" y="252095"/>
            <a:ext cx="1407160" cy="80708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SANDHI</a:t>
            </a:r>
          </a:p>
        </p:txBody>
      </p:sp>
      <p:sp>
        <p:nvSpPr>
          <p:cNvPr id="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6FBA318-1BE1-459F-A852-FBE24495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 defTabSz="457200">
              <a:spcBef>
                <a:spcPct val="0"/>
              </a:spcBef>
              <a:spcAft>
                <a:spcPct val="0"/>
              </a:spcAft>
              <a:buNone/>
              <a:defRPr sz="1200" kern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  <a:lvl2pPr marL="457200" algn="l" defTabSz="457200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 defTabSz="457200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 defTabSz="457200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 defTabSz="457200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</a:pPr>
            <a:fld id="{677C3CE7-23F7-4828-823C-E0205DF2CF97}" type="slidenum">
              <a:rPr b="1">
                <a:solidFill>
                  <a:prstClr val="white"/>
                </a:solidFill>
              </a:rPr>
              <a:t>6</a:t>
            </a:fld>
            <a:endParaRPr b="1">
              <a:solidFill>
                <a:prstClr val="white"/>
              </a:solidFill>
            </a:endParaRPr>
          </a:p>
        </p:txBody>
      </p:sp>
      <p:sp>
        <p:nvSpPr>
          <p:cNvPr id="7" name="Rounded Rectangle 17409">
            <a:extLst xmlns:a="http://schemas.openxmlformats.org/drawingml/2006/main">
              <a:ext uri="{FF2B5EF4-FFF2-40B4-BE49-F238E27FC236}">
                <a16:creationId xmlns:a16="http://schemas.microsoft.com/office/drawing/2014/main" id="{CAC798D0-8622-41E4-89C3-2F37C6AF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22" y="1407826"/>
            <a:ext cx="5589522" cy="176778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6EC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8C1D488-8169-4EC9-94CA-E023CA3C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86" y="1462690"/>
            <a:ext cx="5513832" cy="14834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1E2761"/>
                </a:solidFill>
                <a:latin typeface="Arial"/>
                <a:ea typeface="Arial"/>
                <a:cs typeface="Arial"/>
              </a:rPr>
              <a:t>Data sources</a:t>
            </a:r>
          </a:p>
          <a:p xmlns:a="http://schemas.openxmlformats.org/drawingml/2006/main">
            <a:pPr algn="l">
              <a:spcBef>
                <a:spcPts val="900"/>
              </a:spcBef>
              <a:buNone/>
            </a:pPr>
            <a:r>
              <a:rPr sz="1100" b="1" i="0">
                <a:solidFill>
                  <a:srgbClr val="C1440E"/>
                </a:solidFill>
                <a:latin typeface="Arial"/>
                <a:ea typeface="Arial"/>
                <a:cs typeface="Arial"/>
              </a:rPr>
              <a:t>- ISRO PRADAN: Chandrayaan-2 OHRC, TMC-2 and IIRS</a:t>
            </a:r>
          </a:p>
          <a:p xmlns:a="http://schemas.openxmlformats.org/drawingml/2006/main">
            <a:pPr algn="l">
              <a:spcBef>
                <a:spcPts val="900"/>
              </a:spcBef>
              <a:buNone/>
            </a:pPr>
            <a:r>
              <a:rPr sz="1200" b="1" i="0">
                <a:solidFill>
                  <a:srgbClr val="C1440E"/>
                </a:solidFill>
                <a:latin typeface="Arial"/>
                <a:ea typeface="Arial"/>
                <a:cs typeface="Arial"/>
              </a:rPr>
              <a:t>- JAXA DARTS: Kaguya TC mosaics and DTM</a:t>
            </a:r>
          </a:p>
          <a:p xmlns:a="http://schemas.openxmlformats.org/drawingml/2006/main">
            <a:pPr algn="l">
              <a:spcBef>
                <a:spcPts val="900"/>
              </a:spcBef>
              <a:buNone/>
            </a:pPr>
            <a:r>
              <a:rPr sz="1200" b="1" i="0">
                <a:solidFill>
                  <a:srgbClr val="C1440E"/>
                </a:solidFill>
                <a:latin typeface="Arial"/>
                <a:ea typeface="Arial"/>
                <a:cs typeface="Arial"/>
              </a:rPr>
              <a:t>- PDS ODE: LROC NAC/WAC and Chandrayaan-1 M3</a:t>
            </a:r>
          </a:p>
          <a:p xmlns:a="http://schemas.openxmlformats.org/drawingml/2006/main">
            <a:pPr algn="l">
              <a:spcBef>
                <a:spcPts val="900"/>
              </a:spcBef>
              <a:buNone/>
            </a:pPr>
            <a:r>
              <a:rPr sz="1200" b="1" i="0">
                <a:solidFill>
                  <a:srgbClr val="C1440E"/>
                </a:solidFill>
                <a:latin typeface="Arial"/>
                <a:ea typeface="Arial"/>
                <a:cs typeface="Arial"/>
              </a:rPr>
              <a:t>- LOLA and GLD100: lunar topography</a:t>
            </a:r>
          </a:p>
        </p:txBody>
      </p:sp>
      <p:sp>
        <p:nvSpPr>
          <p:cNvPr id="9" name="Rounded Rectangle 17411">
            <a:extLst xmlns:a="http://schemas.openxmlformats.org/drawingml/2006/main">
              <a:ext uri="{FF2B5EF4-FFF2-40B4-BE49-F238E27FC236}">
                <a16:creationId xmlns:a16="http://schemas.microsoft.com/office/drawing/2014/main" id="{E74D2081-CA6E-41FD-984C-1FB5625C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506629"/>
            <a:ext cx="5623560" cy="2232649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6EC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8A3FBFB-9062-4B31-8E68-0A7B3EA6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170" y="3735485"/>
            <a:ext cx="5513832" cy="1904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1E2761"/>
                </a:solidFill>
                <a:latin typeface="Arial"/>
                <a:ea typeface="Arial"/>
                <a:cs typeface="Arial"/>
              </a:rPr>
              <a:t>Methods</a:t>
            </a:r>
          </a:p>
          <a:p xmlns:a="http://schemas.openxmlformats.org/drawingml/2006/main">
            <a:pPr algn="l">
              <a:spcBef>
                <a:spcPts val="1000"/>
              </a:spcBef>
              <a:buNone/>
            </a:pPr>
            <a:r>
              <a:rPr sz="1200" b="1" i="0">
                <a:solidFill>
                  <a:srgbClr val="C1440E"/>
                </a:solidFill>
                <a:latin typeface="Arial"/>
                <a:ea typeface="Arial"/>
                <a:cs typeface="Arial"/>
              </a:rPr>
              <a:t>- Sun et al., LoFTR: Detector-Free Local Feature Matching with Transformers, CVPR 2021</a:t>
            </a:r>
          </a:p>
          <a:p xmlns:a="http://schemas.openxmlformats.org/drawingml/2006/main">
            <a:pPr algn="l">
              <a:spcBef>
                <a:spcPts val="1000"/>
              </a:spcBef>
              <a:buNone/>
            </a:pPr>
            <a:r>
              <a:rPr sz="1200" b="1" i="0">
                <a:solidFill>
                  <a:srgbClr val="C1440E"/>
                </a:solidFill>
                <a:latin typeface="Arial"/>
                <a:ea typeface="Arial"/>
                <a:cs typeface="Arial"/>
              </a:rPr>
              <a:t>- Barath et al., MAGSAC++ robust estimation, CVPR 2020</a:t>
            </a:r>
          </a:p>
          <a:p xmlns:a="http://schemas.openxmlformats.org/drawingml/2006/main">
            <a:pPr algn="l">
              <a:spcBef>
                <a:spcPts val="1000"/>
              </a:spcBef>
              <a:buNone/>
            </a:pPr>
            <a:r>
              <a:rPr sz="1200" b="1" i="0">
                <a:solidFill>
                  <a:srgbClr val="C1440E"/>
                </a:solidFill>
                <a:latin typeface="Arial"/>
                <a:ea typeface="Arial"/>
                <a:cs typeface="Arial"/>
              </a:rPr>
              <a:t>- Kuglin and Hines, phase-correlation alignment, 1975</a:t>
            </a:r>
          </a:p>
          <a:p xmlns:a="http://schemas.openxmlformats.org/drawingml/2006/main">
            <a:pPr algn="l">
              <a:spcBef>
                <a:spcPts val="1000"/>
              </a:spcBef>
              <a:buNone/>
            </a:pPr>
            <a:r>
              <a:rPr sz="1200" b="1" i="0">
                <a:solidFill>
                  <a:srgbClr val="C1440E"/>
                </a:solidFill>
                <a:latin typeface="Arial"/>
                <a:ea typeface="Arial"/>
                <a:cs typeface="Arial"/>
              </a:rPr>
              <a:t>- Haruyama et al., SELENE Terrain Camera, Science 2009</a:t>
            </a:r>
          </a:p>
        </p:txBody>
      </p:sp>
      <p:sp>
        <p:nvSpPr>
          <p:cNvPr id="13" name="Rounded Rectangle 17413">
            <a:extLst xmlns:a="http://schemas.openxmlformats.org/drawingml/2006/main">
              <a:ext uri="{FF2B5EF4-FFF2-40B4-BE49-F238E27FC236}">
                <a16:creationId xmlns:a16="http://schemas.microsoft.com/office/drawing/2014/main" id="{0DA79289-918D-4CE2-973A-F000CE60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07825"/>
            <a:ext cx="5589522" cy="1767789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76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E139D78-A5FD-4D47-9649-D53D340F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202" y="1405708"/>
            <a:ext cx="5296640" cy="17450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1E2761"/>
                </a:solidFill>
                <a:latin typeface="Arial"/>
                <a:ea typeface="Arial"/>
                <a:cs typeface="Arial"/>
              </a:rPr>
              <a:t>Our work</a:t>
            </a:r>
          </a:p>
          <a:p xmlns:a="http://schemas.openxmlformats.org/drawingml/2006/main">
            <a:pPr algn="l">
              <a:spcBef>
                <a:spcPts val="600"/>
              </a:spcBef>
              <a:buNone/>
            </a:pPr>
            <a:r>
              <a:rPr sz="1200" b="1" i="0">
                <a:solidFill>
                  <a:srgbClr val="C1440E"/>
                </a:solidFill>
                <a:latin typeface="Arial"/>
                <a:ea typeface="Arial"/>
                <a:cs typeface="Arial"/>
              </a:rPr>
              <a:t>github.com/Assassin29092005/SIH2026</a:t>
            </a:r>
          </a:p>
          <a:p xmlns:a="http://schemas.openxmlformats.org/drawingml/2006/main">
            <a:pPr algn="l">
              <a:spcBef>
                <a:spcPts val="900"/>
              </a:spcBef>
              <a:buNone/>
            </a:pPr>
            <a:r>
              <a:rPr sz="1200" b="1" i="0">
                <a:solidFill>
                  <a:srgbClr val="C1440E"/>
                </a:solidFill>
                <a:latin typeface="Arial"/>
                <a:ea typeface="Arial"/>
                <a:cs typeface="Arial"/>
              </a:rPr>
              <a:t>- Ten-module sandhi package and {n_tests} tests</a:t>
            </a:r>
          </a:p>
          <a:p xmlns:a="http://schemas.openxmlformats.org/drawingml/2006/main">
            <a:pPr algn="l">
              <a:spcBef>
                <a:spcPts val="900"/>
              </a:spcBef>
              <a:buNone/>
            </a:pPr>
            <a:r>
              <a:rPr sz="1200" b="1" i="0">
                <a:solidFill>
                  <a:srgbClr val="C1440E"/>
                </a:solidFill>
                <a:latin typeface="Arial"/>
                <a:ea typeface="Arial"/>
                <a:cs typeface="Arial"/>
              </a:rPr>
              <a:t>- Four-control gate on reported matching results</a:t>
            </a:r>
          </a:p>
          <a:p xmlns:a="http://schemas.openxmlformats.org/drawingml/2006/main">
            <a:pPr algn="l">
              <a:spcBef>
                <a:spcPts val="900"/>
              </a:spcBef>
              <a:buNone/>
            </a:pPr>
            <a:r>
              <a:rPr sz="1200" b="1" i="0">
                <a:solidFill>
                  <a:srgbClr val="C1440E"/>
                </a:solidFill>
                <a:latin typeface="Arial"/>
                <a:ea typeface="Arial"/>
                <a:cs typeface="Arial"/>
              </a:rPr>
              <a:t>- {n_bugs} documented bugs, fixes and regression checks</a:t>
            </a:r>
          </a:p>
          <a:p xmlns:a="http://schemas.openxmlformats.org/drawingml/2006/main">
            <a:pPr algn="l">
              <a:spcBef>
                <a:spcPts val="900"/>
              </a:spcBef>
              <a:buNone/>
            </a:pPr>
            <a:r>
              <a:rPr sz="1200" b="1" i="0">
                <a:solidFill>
                  <a:srgbClr val="C1440E"/>
                </a:solidFill>
                <a:latin typeface="Arial"/>
                <a:ea typeface="Arial"/>
                <a:cs typeface="Arial"/>
              </a:rPr>
              <a:t>- Measured negative results retained in the record</a:t>
            </a:r>
          </a:p>
        </p:txBody>
      </p:sp>
      <p:sp>
        <p:nvSpPr>
          <p:cNvPr id="15" name="Rounded Rectangle 17415">
            <a:extLst xmlns:a="http://schemas.openxmlformats.org/drawingml/2006/main">
              <a:ext uri="{FF2B5EF4-FFF2-40B4-BE49-F238E27FC236}">
                <a16:creationId xmlns:a16="http://schemas.microsoft.com/office/drawing/2014/main" id="{E58F2720-E8A2-4D8A-B038-9A711F58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506629"/>
            <a:ext cx="5623560" cy="2232649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AECE6"/>
          </a:solidFill>
          <a:ln xmlns:a="http://schemas.openxmlformats.org/drawingml/2006/main" w="19050">
            <a:solidFill>
              <a:srgbClr val="C144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A38584A-418F-4050-9CF4-93209E28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3655484"/>
            <a:ext cx="5449824" cy="2831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C1440E"/>
                </a:solidFill>
                <a:latin typeface="Arial"/>
                <a:ea typeface="Arial"/>
                <a:cs typeface="Arial"/>
              </a:rPr>
              <a:t>Verified measurements</a:t>
            </a:r>
          </a:p>
        </p:txBody>
      </p:sp>
      <p:sp>
        <p:nvSpPr>
          <p:cNvPr id="17" name="Connector 17417">
            <a:extLst xmlns:a="http://schemas.openxmlformats.org/drawingml/2006/main">
              <a:ext uri="{FF2B5EF4-FFF2-40B4-BE49-F238E27FC236}">
                <a16:creationId xmlns:a16="http://schemas.microsoft.com/office/drawing/2014/main" id="{4056E7B1-F0F0-4969-A67E-18F19020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828" y="4019976"/>
            <a:ext cx="0" cy="1320606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0B8A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 xmlns:a="http://schemas.openxmlformats.org/drawingml/2006/main">
          <a:bodyPr/>
          <a:p/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A116BAA-A6EE-4726-AF8B-E8644258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1058" y="3999602"/>
            <a:ext cx="2569464" cy="13295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20242C"/>
                </a:solidFill>
                <a:latin typeface="Arial"/>
                <a:ea typeface="Arial"/>
                <a:cs typeface="Arial"/>
              </a:rPr>
              <a:t>Raw morning vs evening correlation</a:t>
            </a:r>
            <a:endParaRPr sz="1200" b="0" i="0">
              <a:solidFill>
                <a:srgbClr val="20242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</a:pPr>
            <a:r>
              <a:t>Cross-illumination result</a:t>
            </a:r>
            <a:endParaRPr sz="1200">
              <a:solidFill>
                <a:srgbClr val="20242C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r>
              <a:rPr sz="1200">
                <a:solidFill>
                  <a:srgbClr val="20242C"/>
                </a:solidFill>
                <a:latin typeface="Arial"/>
                <a:ea typeface="Arial"/>
                <a:cs typeface="Arial"/>
              </a:rPr>
              <a:t>TMC-2 to Kaguya</a:t>
            </a:r>
          </a:p>
          <a:p xmlns:a="http://schemas.openxmlformats.org/drawingml/2006/main">
            <a:pPr algn="l">
              <a:buNone/>
            </a:pPr>
            <a:r>
              <a:t>Scale envelope</a:t>
            </a:r>
            <a:endParaRPr sz="1200" b="0" i="0">
              <a:solidFill>
                <a:srgbClr val="20242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63A6BC6-9636-462B-A11E-2FAAD801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0522" y="4019976"/>
            <a:ext cx="2734055" cy="15142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1E2761"/>
                </a:solidFill>
                <a:latin typeface="Arial"/>
                <a:ea typeface="Arial"/>
                <a:cs typeface="Arial"/>
              </a:rPr>
              <a:t>{kaguya_corr}  (tile {kaguya_tile}, 512 px)</a:t>
            </a:r>
            <a:endParaRPr sz="1200" b="1" i="0">
              <a:solidFill>
                <a:srgbClr val="1E276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</a:pPr>
            <a:r>
              <a:t>{base_matches} matches, {base_rmse} px, coverage {base_coverage}</a:t>
            </a:r>
            <a:endParaRPr sz="1200" b="1">
              <a:solidFill>
                <a:srgbClr val="1E276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r>
              <a:rPr sz="12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{tmc_source_px} source px, coverage {tmc_coverage} (full product)</a:t>
            </a:r>
          </a:p>
          <a:p xmlns:a="http://schemas.openxmlformats.org/drawingml/2006/main">
            <a:pPr algn="l">
              <a:buNone/>
            </a:pPr>
            <a:r>
              <a:t>{m3_ratio}x M3-Kaguya: gate pass</a:t>
            </a:r>
            <a:endParaRPr sz="1200" b="1" i="0">
              <a:solidFill>
                <a:srgbClr val="1E276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551863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2026-09-15T13:10:28.7250000Z</dcterms:created>
  <dcterms:modified xsi:type="dcterms:W3CDTF">2026-09-15T13:10:28.7250000Z</dcterms:modified>
</coreProperties>
</file>